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group and state that SmartLoan Analytics is a desktop Python application for managing customers, loans, repayments, analytics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operational pain points first, then connect each pain point to a SmartLoan design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every bullet. Group them into security, operations, analytics, algorithms, and quality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stack is appropriate: Python for development speed, Tkinter for desktop UI, SQLite for local persistence, and supporting libraries for analytics, reports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bottom: Presentation, Business Logic, Algorithm and Analytics layers, Data Access, then SQLite. Emphasize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one-to-many relationships: one customer can have many loans; one loan can have many repayments and penalties; one user can create many audit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the live demo, follow this sequence. This helps the lecturer see that the modules form one coherent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dataset is self-generated and synthetic. Explain why reproducibility and privacy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ready to open algorithms/eligibility_scoring.py and point to the fixed calculations. Mention the academic-model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loop over term_months in algorithms/repayment_schedule.py. Explain why both time and returned storage grow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selection sort was used for visibility of the underlying logic, not because it is the fastest production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bar charts for categorical comparison and line charts for time trends. Mention portfolio KPIs and risk ranking as additional management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one example for each column: hashed passwords, duplicate customer validation, and a logged error or audit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python -m pytest -q during the demo if time permits. State that the Phase 12 baseline had 50 passing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limitations confidently. Acknowledging them demonstrates engineering judgement and defines the boundary of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future improvement to a current limitation. This shows that the group understands scalability and production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linking the system back to the assignment objectives: design, implementation, algorithms, analytics, testing and professional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Each group member should be ready to explain design decisions, algorithms, Git commits and a small live code modification.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SmartLoan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0E0F5"/>
                </a:solidFill>
              </a:defRPr>
            </a:pPr>
            <a:r>
              <a:t>Intelligent Loan Management and Analytics System Using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1828800" cy="54864"/>
          </a:xfrm>
          <a:prstGeom prst="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86AEDE"/>
                </a:solidFill>
              </a:defRPr>
            </a:pPr>
            <a:r>
              <a:t>GROUP MEMBERS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CHOLA CHILUFYA — 2410856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Sibamba Mumbula — 2410781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EUNICE KUNDA — 2410776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Caroline Musonda — 2300908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Gabriel Mwelwa — 2410761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Mumba Adrian — 2611537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834640"/>
            <a:ext cx="3291840" cy="566928"/>
          </a:xfrm>
          <a:prstGeom prst="roundRect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611880"/>
            <a:ext cx="3291840" cy="566928"/>
          </a:xfrm>
          <a:prstGeom prst="round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389120"/>
            <a:ext cx="3291840" cy="566928"/>
          </a:xfrm>
          <a:prstGeom prst="roundRect">
            <a:avLst/>
          </a:prstGeom>
          <a:solidFill>
            <a:srgbClr val="693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Why a dedicated loan-management desktop application was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2/18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400800" cy="429768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Manual and spreadsheet-based records can introduce duplication and data-entry errors.</a:t>
            </a:r>
          </a:p>
          <a:p>
            <a:pPr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Repayment and overdue tracking becomes harder as the portfolio grows.</a:t>
            </a:r>
          </a:p>
          <a:p>
            <a:pPr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Stored data alone is not enough; management needs trends, KPIs and risk insights.</a:t>
            </a:r>
          </a:p>
          <a:p>
            <a:pPr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SmartLoan centralizes operations and analytics in one desktop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4747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Central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834640"/>
            <a:ext cx="34747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2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Automated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251960"/>
            <a:ext cx="34747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9309B"/>
                </a:solidFill>
              </a:defRPr>
            </a:pPr>
            <a:r>
              <a:t>3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Decision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The system was designed to satisfy both functional and software-engineering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3/18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507492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Secure authentication and role-based access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Customer and loan management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Repayment and penalty management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Validation and exception handling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Analytics and Matplotlib visualization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PDF and CSV reporting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Three original algorithms with Big O analysis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Logging, audit trail and automated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A lightweight Python desktop stack suitable for an academic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4/18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F5BA8"/>
                </a:solidFill>
              </a:defRPr>
            </a:pPr>
            <a:r>
              <a:t>Python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Core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69309B"/>
                </a:solidFill>
              </a:defRPr>
            </a:pPr>
            <a:r>
              <a:t>Tkinter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Desktop 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7841"/>
                </a:solidFill>
              </a:defRPr>
            </a:pPr>
            <a:r>
              <a:t>SQLite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Relational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D5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D56F0F"/>
                </a:solidFill>
              </a:defRPr>
            </a:pPr>
            <a:r>
              <a:t>Matplotlib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39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BE2D2D"/>
                </a:solidFill>
              </a:defRPr>
            </a:pPr>
            <a:r>
              <a:t>ReportLab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PDF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3291839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F5BA8"/>
                </a:solidFill>
              </a:defRPr>
            </a:pPr>
            <a:r>
              <a:t>pytest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291839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50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505B69"/>
                </a:solidFill>
              </a:defRPr>
            </a:pPr>
            <a:r>
              <a:t>Git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Layered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Separation of concerns improves maintainability, testing and future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5/18</a:t>
            </a:r>
          </a:p>
        </p:txBody>
      </p:sp>
      <p:pic>
        <p:nvPicPr>
          <p:cNvPr id="6" name="Picture 5" descr="a_clean_diagram_image_on_white_background_lik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078992"/>
            <a:ext cx="905256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Relational entities keep customer, loan and transaction data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6/18</a:t>
            </a:r>
          </a:p>
        </p:txBody>
      </p:sp>
      <p:pic>
        <p:nvPicPr>
          <p:cNvPr id="6" name="Picture 5" descr="a_clean_diagram_on_a_white_background_an_erd_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15568"/>
            <a:ext cx="10607040" cy="7071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Main System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End-to-end workflow available from the role-aware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7/18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8191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Dashboard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6207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3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Customers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1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39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Loan Application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22391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5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Approve / Disburse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02551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Repayment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8271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Analytics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287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6404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Reports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54303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4420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Logout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886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7841"/>
                </a:solidFill>
              </a:defRPr>
            </a:pPr>
            <a:r>
              <a:t>The demonstration should show a complete loan lifecycle rather than isolated screens.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Synthetic, reproducible data supports testing and analytics without exposing real financial PII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8/18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01752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220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synthetic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01752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650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loan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01752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9309B"/>
                </a:solidFill>
              </a:defRPr>
            </a:pPr>
            <a:r>
              <a:t>500+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assignment minimum exceeded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9966960" cy="242316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Repayment records are generated for relevant loan states.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Penalty records are linked to overdue loans.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 fixed random seed makes demonstrations and tests reproducible.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No real customer NRC, bank-account or confidential financial information is 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Algorithm 1 — Eligibility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Transparent rule-based academic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9/18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O(1)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Time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O(1)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Space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4937760" cy="434340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Inputs: monthly income, requested amount, term and existing debt.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Uses a fixed number of arithmetic and comparison operations.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Returns a bounded eligibility score for the prototype.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Academic demonstration only — not a regulated credit-scoring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1663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C2A5B"/>
                </a:solidFill>
              </a:defRPr>
            </a:pPr>
            <a:r>
              <a:t>Why O(1)?</a:t>
            </a:r>
          </a:p>
          <a:p>
            <a:pPr>
              <a:defRPr sz="1400">
                <a:solidFill>
                  <a:srgbClr val="191E24"/>
                </a:solidFill>
              </a:defRPr>
            </a:pPr>
            <a:r>
              <a:t>No loop grows with the number of customers or loans. The same fixed set of calculations runs for one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Algorithm 2 — Repayment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One schedule entry is generated for each month of the loan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10/18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O(n)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Time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O(n)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Space complexity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6304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316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7639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3212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41080" y="3703320"/>
            <a:ext cx="594360" cy="594360"/>
          </a:xfrm>
          <a:prstGeom prst="ellipse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A5B"/>
                </a:solidFill>
              </a:defRPr>
            </a:pPr>
            <a:r>
              <a:t>Month 1  →  Month 2  →  …  →  Month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325880"/>
            <a:ext cx="4389120" cy="214884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n = loan term in months.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The loop executes once per month.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The returned list stores n schedule 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Algorithm 3 — Risk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A transparent manual ranking algorithm identifies higher-risk loans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11/18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O(1)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score per loan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8016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BE2D2D"/>
                </a:solidFill>
              </a:defRPr>
            </a:pPr>
            <a:r>
              <a:t>O(n²)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manual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28016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O(n)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10607040" cy="251460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Risk score uses overdue days, outstanding balance and missed payments.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Selection sort repeatedly chooses the highest remaining risk score.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Nested loops make the manual ranking O(n²).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Production improvement: O(n log n) Timsort/SQL ordering, or a heap for top-k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Analytics &amp;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Charts convert operational records into trends, comparisons and management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12/18</a:t>
            </a:r>
          </a:p>
        </p:txBody>
      </p:sp>
      <p:pic>
        <p:nvPicPr>
          <p:cNvPr id="6" name="Picture 5" descr="loan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257800" cy="2057400"/>
          </a:xfrm>
          <a:prstGeom prst="rect">
            <a:avLst/>
          </a:prstGeom>
        </p:spPr>
      </p:pic>
      <p:pic>
        <p:nvPicPr>
          <p:cNvPr id="7" name="Picture 6" descr="monthly_loan_appl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257800" cy="2057400"/>
          </a:xfrm>
          <a:prstGeom prst="rect">
            <a:avLst/>
          </a:prstGeom>
        </p:spPr>
      </p:pic>
      <p:pic>
        <p:nvPicPr>
          <p:cNvPr id="8" name="Picture 7" descr="monthly_repay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257800" cy="2057400"/>
          </a:xfrm>
          <a:prstGeom prst="rect">
            <a:avLst/>
          </a:prstGeom>
        </p:spPr>
      </p:pic>
      <p:pic>
        <p:nvPicPr>
          <p:cNvPr id="9" name="Picture 8" descr="top_custom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3320"/>
            <a:ext cx="5257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Validation, Security &amp;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Controls protect data quality, access and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13/18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251960"/>
          </a:xfrm>
          <a:prstGeom prst="roundRect">
            <a:avLst/>
          </a:prstGeom>
          <a:solidFill>
            <a:srgbClr val="F9FBFE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F5BA8"/>
                </a:solidFill>
              </a:defRPr>
            </a:pPr>
            <a:r>
              <a:t>SECURITY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Password hashing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Role-based access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Parameterized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4251960"/>
          </a:xfrm>
          <a:prstGeom prst="roundRect">
            <a:avLst/>
          </a:prstGeom>
          <a:solidFill>
            <a:srgbClr val="F9FBFE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7841"/>
                </a:solidFill>
              </a:defRPr>
            </a:pPr>
            <a:r>
              <a:t>VALIDATION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Missing/format checks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Duplicate detection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Loan-specific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429000" cy="4251960"/>
          </a:xfrm>
          <a:prstGeom prst="roundRect">
            <a:avLst/>
          </a:prstGeom>
          <a:solidFill>
            <a:srgbClr val="F9FBFE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69309B"/>
                </a:solidFill>
              </a:defRPr>
            </a:pPr>
            <a:r>
              <a:t>RESILIENCE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Safe exceptions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Rotating logs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The final baseline was checked through automated and manual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14/18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92608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50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passing pytest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292608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✓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compilation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292608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9309B"/>
                </a:solidFill>
              </a:defRPr>
            </a:pPr>
            <a:r>
              <a:t>GUI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manual workflow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37560"/>
            <a:ext cx="9875520" cy="214884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Authentication and role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Customer, loan and repayment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Dataset generation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Algorithm correctness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Analytics and report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The prototype is intentionally scoped for academic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15/18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452628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64592" wrap="square"/>
          <a:lstStyle/>
          <a:p>
            <a:pPr algn="ctr"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Desktop/local architecture limits concurrent multi-user deployment.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SQLite is not intended for high-concurrency enterprise workloads.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Eligibility and risk models are simplified academic rules.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The dataset is synthetic rather than institutional production data.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No payment gateway, credit bureau or external identity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A clear path exists from academic prototype to a more production-oriented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16/18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PostgreSQL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Client/server multi-user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MFA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Stronger identity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Backups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Encrypted and tested recovery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Payments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Gateway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Finance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Reducing-balance amortization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0332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Data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Authorized institutional datasets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3776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C2A5B"/>
                </a:solidFill>
              </a:defRPr>
            </a:pPr>
            <a:r>
              <a:t>Analytics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More advanced forecasting and risk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SmartLoan Analytics demonstrates a complete Python software-engineering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17/18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2423160" cy="1325880"/>
          </a:xfrm>
          <a:prstGeom prst="roundRect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Software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423160" cy="1325880"/>
          </a:xfrm>
          <a:prstGeom prst="round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463040"/>
            <a:ext cx="2423160" cy="1325880"/>
          </a:xfrm>
          <a:prstGeom prst="roundRect">
            <a:avLst/>
          </a:prstGeom>
          <a:solidFill>
            <a:srgbClr val="693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999" y="1463040"/>
            <a:ext cx="2423160" cy="1325880"/>
          </a:xfrm>
          <a:prstGeom prst="round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2423160" cy="1325880"/>
          </a:xfrm>
          <a:prstGeom prst="roundRect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337560"/>
            <a:ext cx="2423160" cy="1325880"/>
          </a:xfrm>
          <a:prstGeom prst="round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337560"/>
            <a:ext cx="2423160" cy="1325880"/>
          </a:xfrm>
          <a:prstGeom prst="roundRect">
            <a:avLst/>
          </a:prstGeom>
          <a:solidFill>
            <a:srgbClr val="693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3337560"/>
            <a:ext cx="2423160" cy="1325880"/>
          </a:xfrm>
          <a:prstGeom prst="round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A5B"/>
                </a:solidFill>
              </a:defRPr>
            </a:pPr>
            <a:r>
              <a:t>A working application is only one part of the submission — the group can also justify, test and defend its design.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5"/>
                </a:solidFill>
              </a:defRPr>
            </a:pPr>
            <a:r>
              <a:t>Questions &amp; Oral Defence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6360" y="3886200"/>
            <a:ext cx="1828800" cy="54864"/>
          </a:xfrm>
          <a:prstGeom prst="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